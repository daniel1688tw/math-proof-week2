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1417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A9D8F"/>
                </a:solidFill>
                <a:latin typeface="Microsoft JhengHei"/>
              </a:rPr>
              <a:t>專題成果報告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901952"/>
            <a:ext cx="10241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4600" b="1">
                <a:solidFill>
                  <a:srgbClr val="FFFFFF"/>
                </a:solidFill>
                <a:latin typeface="Microsoft JhengHei"/>
              </a:rPr>
              <a:t>蘇格拉底式高等數學</a:t>
            </a:r>
          </a:p>
          <a:p>
            <a:pPr algn="l">
              <a:lnSpc>
                <a:spcPct val="113000"/>
              </a:lnSpc>
            </a:pPr>
            <a:r>
              <a:rPr sz="4600" b="1">
                <a:solidFill>
                  <a:srgbClr val="FFFFFF"/>
                </a:solidFill>
                <a:latin typeface="Microsoft JhengHei"/>
              </a:rPr>
              <a:t>證明引導助教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3584448"/>
            <a:ext cx="1371600" cy="4445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51560" y="39319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C5CEDA"/>
                </a:solidFill>
                <a:latin typeface="Microsoft JhengHei"/>
              </a:rPr>
              <a:t>以 QLoRA 微調結合確定性驅動程式與混合驗證架構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C5CEDA"/>
                </a:solidFill>
                <a:latin typeface="Microsoft JhengHei"/>
              </a:rPr>
              <a:t>在單張 6GB 筆電 GPU 上實現「不給答案」的證明家教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5230368"/>
            <a:ext cx="9692640" cy="12700"/>
          </a:xfrm>
          <a:prstGeom prst="rect">
            <a:avLst/>
          </a:prstGeom>
          <a:solidFill>
            <a:srgbClr val="334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51560" y="54406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8E9BAE"/>
                </a:solidFill>
                <a:latin typeface="Microsoft JhengHei"/>
              </a:rPr>
              <a:t>部署形態：Qwen3-4B-Instruct-2507 ＋ qlora_adapter_v9（4-bit nf4）＋ TutorDriver ＋ 審閱後盾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8E9BAE"/>
                </a:solidFill>
                <a:latin typeface="Microsoft JhengHei"/>
              </a:rPr>
              <a:t>2026-08-07　│　分支 feature/product-ui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A9D8F"/>
                </a:solidFill>
                <a:latin typeface="Microsoft JhengHe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B2A41"/>
                </a:solidFill>
                <a:latin typeface="Microsoft JhengHei"/>
              </a:rPr>
              <a:t>這個專題在解什麼問題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71600"/>
            <a:ext cx="1051560" cy="406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710367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472"/>
                </a:solidFill>
                <a:latin typeface="Microsoft Jheng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4592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B2A41"/>
                </a:solidFill>
                <a:latin typeface="Microsoft JhengHei"/>
              </a:rPr>
              <a:t>讓一個 4B 的小模型，做到「不給答案的證明家教」——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12848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2A9D8F"/>
                </a:solidFill>
                <a:latin typeface="Microsoft JhengHei"/>
              </a:rPr>
              <a:t>而且行為可控、可測、可辯護。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310128"/>
            <a:ext cx="3456432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58368" y="3310128"/>
            <a:ext cx="3456432" cy="50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96112" y="356616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A9D8F"/>
                </a:solidFill>
                <a:latin typeface="Microsoft JhengHei"/>
              </a:rPr>
              <a:t>核心洞察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959352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23272E"/>
                </a:solidFill>
                <a:latin typeface="Microsoft JhengHei"/>
              </a:rPr>
              <a:t>「該透漏多少提示」是連續量，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23272E"/>
                </a:solidFill>
                <a:latin typeface="Microsoft JhengHei"/>
              </a:rPr>
              <a:t>純 SFT 校不準；但它可以被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23272E"/>
                </a:solidFill>
                <a:latin typeface="Microsoft JhengHei"/>
              </a:rPr>
              <a:t>程式與預寫內容完全接管。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0831" y="3310128"/>
            <a:ext cx="3456432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370831" y="3310128"/>
            <a:ext cx="3456432" cy="508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608575" y="356616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A41"/>
                </a:solidFill>
                <a:latin typeface="Microsoft JhengHei"/>
              </a:rPr>
              <a:t>架構答案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5" y="3959352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23272E"/>
                </a:solidFill>
                <a:latin typeface="Microsoft JhengHei"/>
              </a:rPr>
              <a:t>離散決策交給程式碼、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23272E"/>
                </a:solidFill>
                <a:latin typeface="Microsoft JhengHei"/>
              </a:rPr>
              <a:t>內容拿捏交給預寫內容、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23272E"/>
                </a:solidFill>
                <a:latin typeface="Microsoft JhengHei"/>
              </a:rPr>
              <a:t>模型只負責數學與語氣。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3294" y="3310128"/>
            <a:ext cx="3456432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83294" y="3310128"/>
            <a:ext cx="3456432" cy="50800"/>
          </a:xfrm>
          <a:prstGeom prst="rect">
            <a:avLst/>
          </a:prstGeom>
          <a:solidFill>
            <a:srgbClr val="D8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321038" y="356616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88C00"/>
                </a:solidFill>
                <a:latin typeface="Microsoft JhengHei"/>
              </a:rPr>
              <a:t>量化結果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8" y="3959352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23272E"/>
                </a:solidFill>
                <a:latin typeface="Microsoft JhengHei"/>
              </a:rPr>
              <a:t>8 題 × 3 對抗情境同尺評分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23272E"/>
                </a:solidFill>
                <a:latin typeface="Microsoft JhengHei"/>
              </a:rPr>
              <a:t>總平均 4.37/5，超過裸模型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23272E"/>
                </a:solidFill>
                <a:latin typeface="Microsoft JhengHei"/>
              </a:rPr>
              <a:t>與思考型模型路線。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5806440"/>
            <a:ext cx="38100" cy="566928"/>
          </a:xfrm>
          <a:prstGeom prst="rect">
            <a:avLst/>
          </a:prstGeom>
          <a:solidFill>
            <a:srgbClr val="D8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1248" y="580644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472"/>
                </a:solidFill>
                <a:latin typeface="Microsoft JhengHei"/>
              </a:rPr>
              <a:t>限制條件：目標硬體為單張 RTX 4050 Laptop（6 GiB VRAM），只能承載約 4B 參數、4-bit 量化的模型。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A9D8F"/>
                </a:solidFill>
                <a:latin typeface="Microsoft JhengHei"/>
              </a:rPr>
              <a:t>問題定義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B2A41"/>
                </a:solidFill>
                <a:latin typeface="Microsoft JhengHei"/>
              </a:rPr>
              <a:t>為什麼不是「接一個大模型 + 一段 prompt」就好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71600"/>
            <a:ext cx="1051560" cy="406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710367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472"/>
                </a:solidFill>
                <a:latin typeface="Microsoft Jheng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5B6472"/>
                </a:solidFill>
                <a:latin typeface="Microsoft JhengHei"/>
              </a:rPr>
              <a:t>四個 prompt 壓不住的難點，每一個都在本專題的迭代中被實測撞到過：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10881360" cy="420624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58368" y="2422144"/>
            <a:ext cx="10881360" cy="1016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6384" y="2011680"/>
            <a:ext cx="159410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難點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9944" y="2011680"/>
            <a:ext cx="884834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純 prompt 的失敗樣態（實測）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432304"/>
            <a:ext cx="108813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58368" y="2989072"/>
            <a:ext cx="10881360" cy="10160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86384" y="2432304"/>
            <a:ext cx="1594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3272E"/>
                </a:solidFill>
                <a:latin typeface="Microsoft JhengHei"/>
              </a:rPr>
              <a:t>透漏多少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9944" y="2432304"/>
            <a:ext cx="884834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3272E"/>
                </a:solidFill>
                <a:latin typeface="Microsoft JhengHei"/>
              </a:rPr>
              <a:t>要嘛第一輪就把關鍵定理送出去，要嘛學生卡死五輪還在反問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999232"/>
            <a:ext cx="108813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58368" y="3556000"/>
            <a:ext cx="10881360" cy="10160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86384" y="2999232"/>
            <a:ext cx="1594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3272E"/>
                </a:solidFill>
                <a:latin typeface="Microsoft JhengHei"/>
              </a:rPr>
              <a:t>何時換階段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9944" y="2999232"/>
            <a:ext cx="884834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3272E"/>
                </a:solidFill>
                <a:latin typeface="Microsoft JhengHei"/>
              </a:rPr>
              <a:t>學生交草稿／要求答案／說「懂了」——模型自己判時序，經常錯過或提早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566160"/>
            <a:ext cx="108813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58368" y="4122928"/>
            <a:ext cx="10881360" cy="10160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86384" y="3566160"/>
            <a:ext cx="1594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3272E"/>
                </a:solidFill>
                <a:latin typeface="Microsoft JhengHei"/>
              </a:rPr>
              <a:t>抗壓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99944" y="3566160"/>
            <a:ext cx="884834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3272E"/>
                </a:solidFill>
                <a:latin typeface="Microsoft JhengHei"/>
              </a:rPr>
              <a:t>被逼問「直接告訴我」時，未微調模型只會政策式拒絕（S3 僅 3.00）；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23272E"/>
                </a:solidFill>
                <a:latin typeface="Microsoft JhengHei"/>
              </a:rPr>
              <a:t>思考型模型甚至曾把完整證明整段交出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133088"/>
            <a:ext cx="108813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58368" y="4689856"/>
            <a:ext cx="10881360" cy="10160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86384" y="4133088"/>
            <a:ext cx="1594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3272E"/>
                </a:solidFill>
                <a:latin typeface="Microsoft JhengHei"/>
              </a:rPr>
              <a:t>收手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99944" y="4133088"/>
            <a:ext cx="884834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3272E"/>
                </a:solidFill>
                <a:latin typeface="Microsoft JhengHei"/>
              </a:rPr>
              <a:t>證明完成後仍熱心延伸到替代證法／推廣，並在即興延伸中產生新的數學錯誤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4956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5B6472"/>
                </a:solidFill>
                <a:latin typeface="Microsoft JhengHei"/>
              </a:rPr>
              <a:t>反過來，純微調也解決不了另外兩件事：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" y="5399532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8DDE4"/>
                </a:solidFill>
                <a:latin typeface="Microsoft JhengHei"/>
              </a:rPr>
              <a:t>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43584" y="5358384"/>
            <a:ext cx="102961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5B6472"/>
                </a:solidFill>
                <a:latin typeface="Microsoft JhengHei"/>
              </a:rPr>
              <a:t>4B 模型對「學生草稿哪裡有洞」的即時數學判斷不可靠——會出現「察覺對但解釋錯」與錯誤背書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" y="5801868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8DDE4"/>
                </a:solidFill>
                <a:latin typeface="Microsoft JhengHei"/>
              </a:rPr>
              <a:t>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43584" y="5760720"/>
            <a:ext cx="102961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5B6472"/>
                </a:solidFill>
                <a:latin typeface="Microsoft JhengHei"/>
              </a:rPr>
              <a:t>面對訓練集外的新題目，沒有可靠的參考解就無法保證引導方向正確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A9D8F"/>
                </a:solidFill>
                <a:latin typeface="Microsoft JhengHei"/>
              </a:rPr>
              <a:t>架構原則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B2A41"/>
                </a:solidFill>
                <a:latin typeface="Microsoft JhengHei"/>
              </a:rPr>
              <a:t>三條設計鐵律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71600"/>
            <a:ext cx="1051560" cy="406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710367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472"/>
                </a:solidFill>
                <a:latin typeface="Microsoft Jheng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5B6472"/>
                </a:solidFill>
                <a:latin typeface="Microsoft JhengHei"/>
              </a:rPr>
              <a:t>由 v2→v6 六輪迭代 ＋ v10／v11 兩次守門判退換來，任何新功能都必須服從。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29968"/>
            <a:ext cx="108813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58368" y="2029968"/>
            <a:ext cx="50800" cy="129844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217627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A9D8F"/>
                </a:solidFill>
                <a:latin typeface="Microsoft JhengHei"/>
              </a:rPr>
              <a:t>鐵律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83664" y="2148840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1B2A41"/>
                </a:solidFill>
                <a:latin typeface="Microsoft JhengHei"/>
              </a:rPr>
              <a:t>離散決策交給程式碼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3664" y="2523744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23272E"/>
                </a:solidFill>
                <a:latin typeface="Microsoft JhengHei"/>
              </a:rPr>
              <a:t>「何時升級提示、何時換階段、何時收尾」是離散、可枚舉、可測試的，</a:t>
            </a:r>
          </a:p>
          <a:p>
            <a:pPr algn="l">
              <a:lnSpc>
                <a:spcPct val="128000"/>
              </a:lnSpc>
            </a:pPr>
            <a:r>
              <a:rPr sz="1300" b="0">
                <a:solidFill>
                  <a:srgbClr val="23272E"/>
                </a:solidFill>
                <a:latin typeface="Microsoft JhengHei"/>
              </a:rPr>
              <a:t>全部寫成確定性 Python，不讓模型自己判斷。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83664" y="29900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B6472"/>
                </a:solidFill>
                <a:latin typeface="Microsoft JhengHei"/>
              </a:rPr>
              <a:t>實測依據：收尾偵測原本靠正則比對助教散文，8 種自然措辭只命中 2 種；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5B6472"/>
                </a:solidFill>
                <a:latin typeface="Microsoft JhengHei"/>
              </a:rPr>
              <a:t>改成確定性訊號（審閱輪回覆不含問句＝沒再要求修正）後才穩定。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474720"/>
            <a:ext cx="108813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58368" y="3474720"/>
            <a:ext cx="50800" cy="1298448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96112" y="362102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B2A41"/>
                </a:solidFill>
                <a:latin typeface="Microsoft JhengHei"/>
              </a:rPr>
              <a:t>鐵律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83664" y="3593592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1B2A41"/>
                </a:solidFill>
                <a:latin typeface="Microsoft JhengHei"/>
              </a:rPr>
              <a:t>內容拿捏交給預寫內容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83664" y="3968496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23272E"/>
                </a:solidFill>
                <a:latin typeface="Microsoft JhengHei"/>
              </a:rPr>
              <a:t>「提示要說多深」「審閱該挑哪個缺漏」是連續量，SFT 校不準。</a:t>
            </a:r>
          </a:p>
          <a:p>
            <a:pPr algn="l">
              <a:lnSpc>
                <a:spcPct val="128000"/>
              </a:lnSpc>
            </a:pPr>
            <a:r>
              <a:rPr sz="1300" b="0">
                <a:solidFill>
                  <a:srgbClr val="23272E"/>
                </a:solidFill>
                <a:latin typeface="Microsoft JhengHei"/>
              </a:rPr>
              <a:t>把內容預先寫好（參考解、分級提示梯、教學步驟），由程式決定何時注入。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3664" y="4434840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B6472"/>
                </a:solidFill>
                <a:latin typeface="Microsoft JhengHei"/>
              </a:rPr>
              <a:t>推論：等級 2 的提示文字必須事先存在——沒有梯就是架構破口。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919472"/>
            <a:ext cx="108813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58368" y="4919472"/>
            <a:ext cx="50800" cy="1298448"/>
          </a:xfrm>
          <a:prstGeom prst="rect">
            <a:avLst/>
          </a:prstGeom>
          <a:solidFill>
            <a:srgbClr val="D8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96112" y="506577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D88C00"/>
                </a:solidFill>
                <a:latin typeface="Microsoft JhengHei"/>
              </a:rPr>
              <a:t>鐵律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83664" y="503834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1B2A41"/>
                </a:solidFill>
                <a:latin typeface="Microsoft JhengHei"/>
              </a:rPr>
              <a:t>模型只負責數學與語氣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83664" y="5413248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23272E"/>
                </a:solidFill>
                <a:latin typeface="Microsoft JhengHei"/>
              </a:rPr>
              <a:t>微調模型的職責壓縮到最小：把「程式決定的意圖」用正確的數學術語與</a:t>
            </a:r>
          </a:p>
          <a:p>
            <a:pPr algn="l">
              <a:lnSpc>
                <a:spcPct val="128000"/>
              </a:lnSpc>
            </a:pPr>
            <a:r>
              <a:rPr sz="1300" b="0">
                <a:solidFill>
                  <a:srgbClr val="23272E"/>
                </a:solidFill>
                <a:latin typeface="Microsoft JhengHei"/>
              </a:rPr>
              <a:t>蘇格拉底語氣說出來。它不決定給多少、不決定何時轉換、不決定對錯。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83664" y="5879592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B6472"/>
                </a:solidFill>
                <a:latin typeface="Microsoft JhengHei"/>
              </a:rPr>
              <a:t>混合架構延伸：即時數學判斷也交出去給思考型模型——判斷與說話分工。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A9D8F"/>
                </a:solidFill>
                <a:latin typeface="Microsoft JhengHei"/>
              </a:rPr>
              <a:t>架構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B2A41"/>
                </a:solidFill>
                <a:latin typeface="Microsoft JhengHei"/>
              </a:rPr>
              <a:t>系統全景：三層 ＋ 一個旁路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71600"/>
            <a:ext cx="1051560" cy="406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710367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472"/>
                </a:solidFill>
                <a:latin typeface="Microsoft JhengHei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8321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58368" y="1444752"/>
            <a:ext cx="50800" cy="713232"/>
          </a:xfrm>
          <a:prstGeom prst="rect">
            <a:avLst/>
          </a:prstGeom>
          <a:solidFill>
            <a:srgbClr val="8E9B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96112" y="157276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8E9BAE"/>
                </a:solidFill>
                <a:latin typeface="Microsoft JhengHei"/>
              </a:rPr>
              <a:t>介面層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883664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23272E"/>
                </a:solidFill>
                <a:latin typeface="Microsoft JhengHei"/>
              </a:rPr>
              <a:t>app.py（Gradio 本機單人 Demo）　│　interactive_turn.py（逐輪 CLI）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286000"/>
            <a:ext cx="83210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58368" y="2286000"/>
            <a:ext cx="50800" cy="106070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96112" y="241401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2A9D8F"/>
                </a:solidFill>
                <a:latin typeface="Microsoft JhengHei"/>
              </a:rPr>
              <a:t>① 備課層　auto_reference.py（Ollama 思考型，每題一次）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724912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23272E"/>
                </a:solidFill>
                <a:latin typeface="Microsoft JhengHei"/>
              </a:rPr>
              <a:t>PROVER×3 → VERIFIER → REPAIR → SEGMENTER → LADDER</a:t>
            </a:r>
          </a:p>
          <a:p>
            <a:pPr algn="l">
              <a:lnSpc>
                <a:spcPct val="128000"/>
              </a:lnSpc>
            </a:pPr>
            <a:r>
              <a:rPr sz="1200" b="0">
                <a:solidFill>
                  <a:srgbClr val="23272E"/>
                </a:solidFill>
                <a:latin typeface="Microsoft JhengHei"/>
              </a:rPr>
              <a:t>產出 reference_proof／teach_steps／hint_ladder；證不對 → status=unverified → 全下游切同學模式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474720"/>
            <a:ext cx="83210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58368" y="3474720"/>
            <a:ext cx="50800" cy="1060704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96112" y="360273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B2A41"/>
                </a:solidFill>
                <a:latin typeface="Microsoft JhengHei"/>
              </a:rPr>
              <a:t>② 決策層　TutorDriver（純確定性 Python，1536 行，無隨機性）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913632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23272E"/>
                </a:solidFill>
                <a:latin typeface="Microsoft JhengHei"/>
              </a:rPr>
              <a:t>state → 決定 phase／level → 組裝 system prompt；生成後跑防護鏈</a:t>
            </a:r>
          </a:p>
          <a:p>
            <a:pPr algn="l">
              <a:lnSpc>
                <a:spcPct val="128000"/>
              </a:lnSpc>
            </a:pPr>
            <a:r>
              <a:rPr sz="1200" b="0">
                <a:solidFill>
                  <a:srgbClr val="23272E"/>
                </a:solidFill>
                <a:latin typeface="Microsoft JhengHei"/>
              </a:rPr>
              <a:t>（洩漏 15-gram／防奉送／等級 2 禁算式／稱讚校準／重複／回問保底，每次重生成後重跑）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663440"/>
            <a:ext cx="832104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58368" y="4663440"/>
            <a:ext cx="50800" cy="859536"/>
          </a:xfrm>
          <a:prstGeom prst="rect">
            <a:avLst/>
          </a:prstGeom>
          <a:solidFill>
            <a:srgbClr val="44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96112" y="479145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445A7A"/>
                </a:solidFill>
                <a:latin typeface="Microsoft JhengHei"/>
              </a:rPr>
              <a:t>③ 生成層　Qwen3-4B-Instruct-2507（4-bit nf4）＋ qlora_adapter_v9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5102352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23272E"/>
                </a:solidFill>
                <a:latin typeface="Microsoft JhengHei"/>
              </a:rPr>
              <a:t>greedy 解碼、max_new_tokens=240 ── 因此整條管線可離線回放與斷言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1728" y="2157984"/>
            <a:ext cx="25400" cy="128016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681728" y="3346704"/>
            <a:ext cx="25400" cy="128016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4681728" y="4535424"/>
            <a:ext cx="25400" cy="128016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9272016" y="2286000"/>
            <a:ext cx="2267712" cy="3236976"/>
          </a:xfrm>
          <a:prstGeom prst="rect">
            <a:avLst/>
          </a:prstGeom>
          <a:solidFill>
            <a:srgbClr val="FFFFFF"/>
          </a:solidFill>
          <a:ln w="17780">
            <a:solidFill>
              <a:srgbClr val="D8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9272016" y="2286000"/>
            <a:ext cx="2267712" cy="50800"/>
          </a:xfrm>
          <a:prstGeom prst="rect">
            <a:avLst/>
          </a:prstGeom>
          <a:solidFill>
            <a:srgbClr val="D8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454896" y="2487168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D88C00"/>
                </a:solidFill>
                <a:latin typeface="Microsoft JhengHei"/>
              </a:rPr>
              <a:t>⊕ 旁路</a:t>
            </a:r>
          </a:p>
          <a:p>
            <a:pPr algn="l">
              <a:lnSpc>
                <a:spcPct val="125000"/>
              </a:lnSpc>
            </a:pPr>
            <a:r>
              <a:rPr sz="1450" b="1">
                <a:solidFill>
                  <a:srgbClr val="D88C00"/>
                </a:solidFill>
                <a:latin typeface="Microsoft JhengHei"/>
              </a:rPr>
              <a:t>審閱後盾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54896" y="3127248"/>
            <a:ext cx="1920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3272E"/>
                </a:solidFill>
                <a:latin typeface="Microsoft JhengHei"/>
              </a:rPr>
              <a:t>review_backstop.py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3272E"/>
                </a:solidFill>
                <a:latin typeface="Microsoft JhengHei"/>
              </a:rPr>
              <a:t>（Ollama 思考型）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3272E"/>
                </a:solidFill>
                <a:latin typeface="Microsoft JhengHei"/>
              </a:rPr>
              <a:t>只在審閱／糾錯輪觸發，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3272E"/>
                </a:solidFill>
                <a:latin typeface="Microsoft JhengHei"/>
              </a:rPr>
              <a:t>對照參考解找碴，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3272E"/>
                </a:solidFill>
                <a:latin typeface="Microsoft JhengHei"/>
              </a:rPr>
              <a:t>缺漏清單注入 system。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3272E"/>
                </a:solidFill>
                <a:latin typeface="Microsoft JhengHei"/>
              </a:rPr>
              <a:t>Ollama 不在線 →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3272E"/>
                </a:solidFill>
                <a:latin typeface="Microsoft JhengHei"/>
              </a:rPr>
              <a:t>自動降級，不報錯。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5806440"/>
            <a:ext cx="38100" cy="566928"/>
          </a:xfrm>
          <a:prstGeom prst="rect">
            <a:avLst/>
          </a:prstGeom>
          <a:solidFill>
            <a:srgbClr val="D8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8" y="580644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472"/>
                </a:solidFill>
                <a:latin typeface="Microsoft JhengHei"/>
              </a:rPr>
              <a:t>設計意涵：模型是可替換的元件。行為保證來自②的確定性層與①的預寫內容，而不是來自模型有多聰明。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A9D8F"/>
                </a:solidFill>
                <a:latin typeface="Microsoft JhengHei"/>
              </a:rPr>
              <a:t>① auto_reference.py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B2A41"/>
                </a:solidFill>
                <a:latin typeface="Microsoft JhengHei"/>
              </a:rPr>
              <a:t>備課層：先自己證對，才有資格教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71600"/>
            <a:ext cx="1051560" cy="406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710367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472"/>
                </a:solidFill>
                <a:latin typeface="Microsoft JhengHei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881360" cy="420624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58368" y="1983232"/>
            <a:ext cx="10881360" cy="1016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1572768"/>
            <a:ext cx="123786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階段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3708" y="1572768"/>
            <a:ext cx="143217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輸入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95342" y="1572768"/>
            <a:ext cx="5221223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輸出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021" y="1572768"/>
            <a:ext cx="21122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失敗處置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1993392"/>
            <a:ext cx="108813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58368" y="2440432"/>
            <a:ext cx="10881360" cy="10160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86384" y="1993392"/>
            <a:ext cx="12378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PROVER ×3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3708" y="1993392"/>
            <a:ext cx="143217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題目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95342" y="1993392"/>
            <a:ext cx="522122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3 份獨立候選參考解（temperature 分散）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36021" y="1993392"/>
            <a:ext cx="21122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450592"/>
            <a:ext cx="108813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58368" y="2897632"/>
            <a:ext cx="10881360" cy="10160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86384" y="2450592"/>
            <a:ext cx="12378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VERIFIER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3708" y="2450592"/>
            <a:ext cx="143217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題目＋候選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95342" y="2450592"/>
            <a:ext cx="522122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{verdict, issues[]}；逐步檢查前提、量詞、不等號方向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6021" y="2450592"/>
            <a:ext cx="21122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該份淘汰，換下一份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2907792"/>
            <a:ext cx="108813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58368" y="3354832"/>
            <a:ext cx="10881360" cy="10160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86384" y="2907792"/>
            <a:ext cx="12378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REPAIR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3708" y="2907792"/>
            <a:ext cx="143217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候選＋issues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95342" y="2907792"/>
            <a:ext cx="522122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修補後的證明 → 再驗一次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6021" y="2907792"/>
            <a:ext cx="21122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再驗不過即淘汰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3364992"/>
            <a:ext cx="108813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58368" y="3812032"/>
            <a:ext cx="10881360" cy="10160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86384" y="3364992"/>
            <a:ext cx="12378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SEGMENTER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43708" y="3364992"/>
            <a:ext cx="143217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通過的證明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95342" y="3364992"/>
            <a:ext cx="522122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3–6 個教學步驟，每步含確認問題與可評分的答案鍵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36021" y="3364992"/>
            <a:ext cx="21122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整份丟棄，改句級保底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3822192"/>
            <a:ext cx="108813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658368" y="4269232"/>
            <a:ext cx="10881360" cy="10160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86384" y="3822192"/>
            <a:ext cx="12378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LADDER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3708" y="3822192"/>
            <a:ext cx="143217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通過的證明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95342" y="3822192"/>
            <a:ext cx="522122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恰 2 條分級提示，依序對應證明的兩個關鍵轉折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36021" y="3822192"/>
            <a:ext cx="21122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整份丟棄，不寫該鍵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617720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A41"/>
                </a:solidFill>
                <a:latin typeface="Microsoft JhengHei"/>
              </a:rPr>
              <a:t>盲測結果（10 題已知解、隱藏答案盲跑）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992624"/>
            <a:ext cx="5257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32688" y="5138928"/>
            <a:ext cx="2194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A9D8F"/>
                </a:solidFill>
                <a:latin typeface="Microsoft JhengHei"/>
              </a:rPr>
              <a:t>verified 9/10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55848" y="5138928"/>
            <a:ext cx="23774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3272E"/>
                </a:solidFill>
                <a:latin typeface="Microsoft JhengHei"/>
              </a:rPr>
              <a:t>正確率 9/9 = 100%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23272E"/>
                </a:solidFill>
                <a:latin typeface="Microsoft JhengHei"/>
              </a:rPr>
              <a:t>（零錯誤背書）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81928" y="4617720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A41"/>
                </a:solidFill>
                <a:latin typeface="Microsoft JhengHei"/>
              </a:rPr>
              <a:t>唯一沒過的是最難的 Darboux 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81928" y="4992624"/>
            <a:ext cx="5257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556248" y="5120640"/>
            <a:ext cx="4754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>
                <a:solidFill>
                  <a:srgbClr val="23272E"/>
                </a:solidFill>
                <a:latin typeface="Microsoft JhengHei"/>
              </a:rPr>
              <a:t>「知之為知之」正是設計目標，不是失敗——</a:t>
            </a:r>
          </a:p>
          <a:p>
            <a:pPr algn="l">
              <a:lnSpc>
                <a:spcPct val="132000"/>
              </a:lnSpc>
            </a:pPr>
            <a:r>
              <a:rPr sz="1300" b="0">
                <a:solidFill>
                  <a:srgbClr val="23272E"/>
                </a:solidFill>
                <a:latin typeface="Microsoft JhengHei"/>
              </a:rPr>
              <a:t>證不出來就誠實降級為同學模式，而不是硬教。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A9D8F"/>
                </a:solidFill>
                <a:latin typeface="Microsoft JhengHei"/>
              </a:rPr>
              <a:t>② TutorDriver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B2A41"/>
                </a:solidFill>
                <a:latin typeface="Microsoft JhengHei"/>
              </a:rPr>
              <a:t>決策層：把「教學決策」寫成狀態機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71600"/>
            <a:ext cx="1051560" cy="406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710367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472"/>
                </a:solidFill>
                <a:latin typeface="Microsoft JhengHe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5120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2A41"/>
                </a:solidFill>
                <a:latin typeface="Microsoft JhengHei"/>
              </a:rPr>
              <a:t>提示分級（stuck counter）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5120640" cy="384048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58368" y="2239264"/>
            <a:ext cx="5120640" cy="1016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6384" y="1865376"/>
            <a:ext cx="148742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連續卡住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93263" y="1865376"/>
            <a:ext cx="319430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行為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249424"/>
            <a:ext cx="51206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58368" y="2623312"/>
            <a:ext cx="5120640" cy="10160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86384" y="2249424"/>
            <a:ext cx="148742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0 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93263" y="2249424"/>
            <a:ext cx="319430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等級 0：問一個聚焦問題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633472"/>
            <a:ext cx="51206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58368" y="3007360"/>
            <a:ext cx="5120640" cy="10160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86384" y="2633472"/>
            <a:ext cx="148742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1 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93263" y="2633472"/>
            <a:ext cx="319430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等級 1：拆成更小的子問題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017520"/>
            <a:ext cx="51206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58368" y="3391408"/>
            <a:ext cx="5120640" cy="10160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86384" y="3017520"/>
            <a:ext cx="148742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2 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93263" y="3017520"/>
            <a:ext cx="319430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等級 2：注入預寫提示梯內容（禁附算式）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401568"/>
            <a:ext cx="5120640" cy="384048"/>
          </a:xfrm>
          <a:prstGeom prst="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58368" y="3775456"/>
            <a:ext cx="5120640" cy="10160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86384" y="3401568"/>
            <a:ext cx="148742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B2A41"/>
                </a:solidFill>
                <a:latin typeface="Microsoft JhengHei"/>
              </a:rPr>
              <a:t>梯用盡再卡 2 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93263" y="3401568"/>
            <a:ext cx="319430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進入逐步教學 walkthrough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931920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B6472"/>
                </a:solidFill>
                <a:latin typeface="Microsoft JhengHei"/>
              </a:rPr>
              <a:t>支援強度必須單調遞增：早期版本在送出等級 2 後把 stuck_count 歸零，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5B6472"/>
                </a:solidFill>
                <a:latin typeface="Microsoft JhengHei"/>
              </a:rPr>
              <a:t>對持續卡住的學生會掉回等級 1（給得更少），實測造成「同一段話重複三輪」。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1481328"/>
            <a:ext cx="5120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2A41"/>
                </a:solidFill>
                <a:latin typeface="Microsoft JhengHei"/>
              </a:rPr>
              <a:t>階段機（優先序，先命中先決定）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19088" y="1865376"/>
            <a:ext cx="5120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565392" y="1865376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B2A41"/>
                </a:solidFill>
                <a:latin typeface="Microsoft JhengHei"/>
              </a:rPr>
              <a:t>交草稿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5008" y="1865376"/>
            <a:ext cx="3383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→ review　＋ 後盾複核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19088" y="2304288"/>
            <a:ext cx="5120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65392" y="2304288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B2A41"/>
                </a:solidFill>
                <a:latin typeface="Microsoft JhengHei"/>
              </a:rPr>
              <a:t>被逼問答案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65008" y="2304288"/>
            <a:ext cx="3383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→ refuse_leak　婉拒並還主導權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19088" y="2743200"/>
            <a:ext cx="5120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565392" y="2743200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B2A41"/>
                </a:solidFill>
                <a:latin typeface="Microsoft JhengHei"/>
              </a:rPr>
              <a:t>提出嘗試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65008" y="2743200"/>
            <a:ext cx="3383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→ rectify　引導自行發現錯誤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19088" y="3182112"/>
            <a:ext cx="5120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565392" y="3182112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B2A41"/>
                </a:solidFill>
                <a:latin typeface="Microsoft JhengHei"/>
              </a:rPr>
              <a:t>說「懂了」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65008" y="3182112"/>
            <a:ext cx="3383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→ writeup_request　請他寫證明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19088" y="3621024"/>
            <a:ext cx="5120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565392" y="3621024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B2A41"/>
                </a:solidFill>
                <a:latin typeface="Microsoft JhengHei"/>
              </a:rPr>
              <a:t>證明確認完成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65008" y="3621024"/>
            <a:ext cx="3383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→ closed　禁新問題／替代法／延伸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19088" y="416052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B6472"/>
                </a:solidFill>
                <a:latin typeface="Microsoft JhengHei"/>
              </a:rPr>
              <a:t>階段指示優先於等級指示——理解這條優先序，才理解為什麼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5B6472"/>
                </a:solidFill>
                <a:latin typeface="Microsoft JhengHei"/>
              </a:rPr>
              <a:t>提示梯只能在 phase is None 時推進。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4754880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2A41"/>
                </a:solidFill>
                <a:latin typeface="Microsoft JhengHei"/>
              </a:rPr>
              <a:t>生成後的防護鏈：順序即設計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157216"/>
            <a:ext cx="15727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58368" y="5157216"/>
            <a:ext cx="157276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1B2A41"/>
                </a:solidFill>
                <a:latin typeface="Microsoft JhengHei"/>
              </a:rPr>
              <a:t>洩漏 15-gram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76272" y="5157216"/>
            <a:ext cx="12801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D8DDE4"/>
                </a:solidFill>
                <a:latin typeface="Microsoft JhengHei"/>
              </a:rPr>
              <a:t>›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04288" y="5157216"/>
            <a:ext cx="15727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2304288" y="5157216"/>
            <a:ext cx="157276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1B2A41"/>
                </a:solidFill>
                <a:latin typeface="Microsoft JhengHei"/>
              </a:rPr>
              <a:t>on-track 防奉送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22192" y="5157216"/>
            <a:ext cx="12801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D8DDE4"/>
                </a:solidFill>
                <a:latin typeface="Microsoft JhengHei"/>
              </a:rPr>
              <a:t>›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950208" y="5157216"/>
            <a:ext cx="15727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3950208" y="5157216"/>
            <a:ext cx="157276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1B2A41"/>
                </a:solidFill>
                <a:latin typeface="Microsoft JhengHei"/>
              </a:rPr>
              <a:t>等級 2 禁算式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68112" y="5157216"/>
            <a:ext cx="12801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D8DDE4"/>
                </a:solidFill>
                <a:latin typeface="Microsoft JhengHei"/>
              </a:rPr>
              <a:t>›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96128" y="5157216"/>
            <a:ext cx="15727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5596128" y="5157216"/>
            <a:ext cx="157276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1B2A41"/>
                </a:solidFill>
                <a:latin typeface="Microsoft JhengHei"/>
              </a:rPr>
              <a:t>稱讚校準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14032" y="5157216"/>
            <a:ext cx="12801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D8DDE4"/>
                </a:solidFill>
                <a:latin typeface="Microsoft JhengHei"/>
              </a:rPr>
              <a:t>›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242048" y="5157216"/>
            <a:ext cx="15727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7242048" y="5157216"/>
            <a:ext cx="157276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1B2A41"/>
                </a:solidFill>
                <a:latin typeface="Microsoft JhengHei"/>
              </a:rPr>
              <a:t>重複偵測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59952" y="5157216"/>
            <a:ext cx="12801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D8DDE4"/>
                </a:solidFill>
                <a:latin typeface="Microsoft JhengHei"/>
              </a:rPr>
              <a:t>›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887968" y="5157216"/>
            <a:ext cx="15727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8887968" y="5157216"/>
            <a:ext cx="157276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1B2A41"/>
                </a:solidFill>
                <a:latin typeface="Microsoft JhengHei"/>
              </a:rPr>
              <a:t>回問保底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8368" y="5870448"/>
            <a:ext cx="38100" cy="566928"/>
          </a:xfrm>
          <a:prstGeom prst="rect">
            <a:avLst/>
          </a:prstGeom>
          <a:solidFill>
            <a:srgbClr val="D8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841248" y="5870448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472"/>
                </a:solidFill>
                <a:latin typeface="Microsoft JhengHei"/>
              </a:rPr>
              <a:t>每次重生成後全部重跑。早期版本讓重生成結果直接落地，實測可讓一段逐字複製參考解、結尾帶問號的回覆完整送到學生面前——正好架空招牌的抗洩漏能力。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A9D8F"/>
                </a:solidFill>
                <a:latin typeface="Microsoft JhengHei"/>
              </a:rPr>
              <a:t>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B2A41"/>
                </a:solidFill>
                <a:latin typeface="Microsoft JhengHei"/>
              </a:rPr>
              <a:t>最後一道防線：可評分的逐步教學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71600"/>
            <a:ext cx="1051560" cy="406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710367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472"/>
                </a:solidFill>
                <a:latin typeface="Microsoft JhengHe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23272E"/>
                </a:solidFill>
                <a:latin typeface="Microsoft JhengHei"/>
              </a:rPr>
              <a:t>提示梯用盡、學生仍連續卡住時進入。這一階段完全不呼叫生成模型。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5212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B2A41"/>
                </a:solidFill>
                <a:latin typeface="Microsoft JhengHei"/>
              </a:rPr>
              <a:t>為什麼連語氣都不讓模型碰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345436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8DDE4"/>
                </a:solidFill>
                <a:latin typeface="Microsoft JhengHei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3584" y="2304288"/>
            <a:ext cx="46268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5B6472"/>
                </a:solidFill>
                <a:latin typeface="Microsoft JhengHei"/>
              </a:rPr>
              <a:t>模型會把同一步逐字重講三輪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711196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8DDE4"/>
                </a:solidFill>
                <a:latin typeface="Microsoft JhengHei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3584" y="2670048"/>
            <a:ext cx="46268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5B6472"/>
                </a:solidFill>
                <a:latin typeface="Microsoft JhengHei"/>
              </a:rPr>
              <a:t>會一次講掉好幾步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3076956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8DDE4"/>
                </a:solidFill>
                <a:latin typeface="Microsoft JhengHei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3035808"/>
            <a:ext cx="46268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5B6472"/>
                </a:solidFill>
                <a:latin typeface="Microsoft JhengHei"/>
              </a:rPr>
              <a:t>會把確認問題換掉 → 答案鍵無從比對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3442716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8DDE4"/>
                </a:solidFill>
                <a:latin typeface="Microsoft JhengHei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3584" y="3401568"/>
            <a:ext cx="46268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5B6472"/>
                </a:solidFill>
                <a:latin typeface="Microsoft JhengHei"/>
              </a:rPr>
              <a:t>每輪最多 4 次重生成 → 守門該段 12 → 45 分鐘，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5B6472"/>
                </a:solidFill>
                <a:latin typeface="Microsoft JhengHei"/>
              </a:rPr>
              <a:t>而等在螢幕前的正是最需要幫助的學生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920240"/>
            <a:ext cx="5120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B2A41"/>
                </a:solidFill>
                <a:latin typeface="Microsoft JhengHei"/>
              </a:rPr>
              <a:t>改成確定性模板之後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9984" y="2345436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8DDE4"/>
                </a:solidFill>
                <a:latin typeface="Microsoft JhengHei"/>
              </a:rPr>
              <a:t>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304288"/>
            <a:ext cx="45354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每輪輸出「第 i/n 步：講解 ＋ 確認問題」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9984" y="2711196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8DDE4"/>
                </a:solidFill>
                <a:latin typeface="Microsoft JhengHei"/>
              </a:rPr>
              <a:t>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04304" y="2670048"/>
            <a:ext cx="45354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2A9D8F"/>
                </a:solidFill>
                <a:latin typeface="Microsoft JhengHei"/>
              </a:rPr>
              <a:t>答對才前進（比對備課產出的答案鍵）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9984" y="3076956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8DDE4"/>
                </a:solidFill>
                <a:latin typeface="Microsoft JhengHei"/>
              </a:rPr>
              <a:t>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04304" y="3035808"/>
            <a:ext cx="45354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答錯或卡住 → 留在同一步，叫模型換說法重講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9984" y="3442716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8DDE4"/>
                </a:solidFill>
                <a:latin typeface="Microsoft JhengHei"/>
              </a:rPr>
              <a:t>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04304" y="3401568"/>
            <a:ext cx="45354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重試上限 2 次 → 揭示答案並前進（不讓學生死鎖）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9984" y="3808476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8DDE4"/>
                </a:solidFill>
                <a:latin typeface="Microsoft JhengHei"/>
              </a:rPr>
              <a:t>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3767328"/>
            <a:ext cx="45354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2A9D8F"/>
                </a:solidFill>
                <a:latin typeface="Microsoft JhengHei"/>
              </a:rPr>
              <a:t>教學輪的生成次數：4 → 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443984"/>
            <a:ext cx="108813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58368" y="4443984"/>
            <a:ext cx="50800" cy="1298448"/>
          </a:xfrm>
          <a:prstGeom prst="rect">
            <a:avLst/>
          </a:prstGeom>
          <a:solidFill>
            <a:srgbClr val="D8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14400" y="4608576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D88C00"/>
                </a:solidFill>
                <a:latin typeface="Microsoft JhengHei"/>
              </a:rPr>
              <a:t>關鍵設計：教完仍要學生自己寫證明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974336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3272E"/>
                </a:solidFill>
                <a:latin typeface="Microsoft JhengHei"/>
              </a:rPr>
              <a:t>逐步教學是幫他跨過門檻，不是代寫。走完最後一步後轉回 writeup_request，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23272E"/>
                </a:solidFill>
                <a:latin typeface="Microsoft JhengHei"/>
              </a:rPr>
              <a:t>接上「學生交稿 → 審閱後盾複核 → 確定性收尾」這條既有路徑。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806440"/>
            <a:ext cx="38100" cy="566928"/>
          </a:xfrm>
          <a:prstGeom prst="rect">
            <a:avLst/>
          </a:prstGeom>
          <a:solidFill>
            <a:srgbClr val="D8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41248" y="580644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472"/>
                </a:solidFill>
                <a:latin typeface="Microsoft JhengHei"/>
              </a:rPr>
              <a:t>取捨自覺：模板化換來的是可預測性，代價是語氣固定。在「學生已經卡到用盡所有提示」的情境下，這個交換是划算的。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A9D8F"/>
                </a:solidFill>
                <a:latin typeface="Microsoft JhengHei"/>
              </a:rPr>
              <a:t>⊕ 審閱後盾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B2A41"/>
                </a:solidFill>
                <a:latin typeface="Microsoft JhengHei"/>
              </a:rPr>
              <a:t>混合架構：把「判斷」與「說話」分開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71600"/>
            <a:ext cx="1051560" cy="406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710367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472"/>
                </a:solidFill>
                <a:latin typeface="Microsoft JhengHe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23272E"/>
                </a:solidFill>
                <a:latin typeface="Microsoft JhengHei"/>
              </a:rPr>
              <a:t>審閱學生草稿需要的即時數學判斷，超出 4B 微調模型的可靠範圍。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48256"/>
            <a:ext cx="345643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58368" y="2048256"/>
            <a:ext cx="3456432" cy="50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2286000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A9D8F"/>
                </a:solidFill>
                <a:latin typeface="Microsoft JhengHei"/>
              </a:rPr>
              <a:t>思考型模型（幕後）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688336"/>
            <a:ext cx="301752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對照參考解逐步找碴，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輸出缺漏清單。</a:t>
            </a:r>
          </a:p>
          <a:p>
            <a:pPr algn="l">
              <a:lnSpc>
                <a:spcPct val="135000"/>
              </a:lnSpc>
            </a:pP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強項：糾錯銳利度 S2 = 4.75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致命傷：S3 曾把完整證明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整段交出、偶有空輸出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0831" y="2048256"/>
            <a:ext cx="345643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70831" y="2048256"/>
            <a:ext cx="3456432" cy="508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608575" y="2286000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A41"/>
                </a:solidFill>
                <a:latin typeface="Microsoft JhengHei"/>
              </a:rPr>
              <a:t>微調模型（面對學生）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5" y="2688336"/>
            <a:ext cx="301752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只把缺漏清單包裝成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引導語氣。</a:t>
            </a:r>
          </a:p>
          <a:p>
            <a:pPr algn="l">
              <a:lnSpc>
                <a:spcPct val="135000"/>
              </a:lnSpc>
            </a:pP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強項：引導行為穩定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（S1／S3 均 4.31）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弱項：即時數學判斷不可靠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83294" y="2048256"/>
            <a:ext cx="345643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083294" y="2048256"/>
            <a:ext cx="3456432" cy="50800"/>
          </a:xfrm>
          <a:prstGeom prst="rect">
            <a:avLst/>
          </a:prstGeom>
          <a:solidFill>
            <a:srgbClr val="D8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321038" y="2286000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D88C00"/>
                </a:solidFill>
                <a:latin typeface="Microsoft JhengHei"/>
              </a:rPr>
              <a:t>合起來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38" y="2688336"/>
            <a:ext cx="301752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思考型永不直接面對學生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→ 致命傷被隔離。</a:t>
            </a:r>
          </a:p>
          <a:p>
            <a:pPr algn="l">
              <a:lnSpc>
                <a:spcPct val="135000"/>
              </a:lnSpc>
            </a:pP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S2　4.19 → 4.50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跨域 S2　4.67 → 4.92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S1／S3 逐字不變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700016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A41"/>
                </a:solidFill>
                <a:latin typeface="Microsoft JhengHei"/>
              </a:rPr>
              <a:t>端對端驗證（3 個微調模型曾失手的案例，有／無後盾對照）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5125212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D8DDE4"/>
                </a:solidFill>
                <a:latin typeface="Microsoft JhengHei"/>
              </a:rPr>
              <a:t>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5084064"/>
            <a:ext cx="102961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5B6472"/>
                </a:solidFill>
                <a:latin typeface="Microsoft JhengHei"/>
              </a:rPr>
              <a:t>H3 雙重錯誤的錯誤背書「平均式子沒問題」消失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5472684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D8DDE4"/>
                </a:solidFill>
                <a:latin typeface="Microsoft JhengHei"/>
              </a:rPr>
              <a:t>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43584" y="5431536"/>
            <a:ext cx="102961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5B6472"/>
                </a:solidFill>
                <a:latin typeface="Microsoft JhengHei"/>
              </a:rPr>
              <a:t>X4 從問錯目標變成精準指出缺 v₂≠0；X2 無回歸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" y="5820156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D8DDE4"/>
                </a:solidFill>
                <a:latin typeface="Microsoft JhengHei"/>
              </a:rPr>
              <a:t>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43584" y="5779008"/>
            <a:ext cx="102961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5B6472"/>
                </a:solidFill>
                <a:latin typeface="Microsoft JhengHei"/>
              </a:rPr>
              <a:t>找碴準確度 3/3 精準——關鍵是要求「教學標準」：未明說的依據也算缺漏（數學家標準會放行）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A9D8F"/>
                </a:solidFill>
                <a:latin typeface="Microsoft JhengHei"/>
              </a:rPr>
              <a:t>Dataset &amp;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B2A41"/>
                </a:solidFill>
                <a:latin typeface="Microsoft JhengHei"/>
              </a:rPr>
              <a:t>資料集與訓練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71600"/>
            <a:ext cx="1051560" cy="406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710367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472"/>
                </a:solidFill>
                <a:latin typeface="Microsoft JhengHe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5212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2A41"/>
                </a:solidFill>
                <a:latin typeface="Microsoft JhengHei"/>
              </a:rPr>
              <a:t>資料集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06524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A9D8F"/>
                </a:solidFill>
                <a:latin typeface="Microsoft JhengHei"/>
              </a:rP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865376"/>
            <a:ext cx="4937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23272E"/>
                </a:solidFill>
                <a:latin typeface="Microsoft JhengHei"/>
              </a:rPr>
              <a:t>全人工撰寫並驗證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2253996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8DDE4"/>
                </a:solidFill>
                <a:latin typeface="Microsoft JhengHei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" y="2212848"/>
            <a:ext cx="46268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5B6472"/>
                </a:solidFill>
                <a:latin typeface="Microsoft JhengHei"/>
              </a:rPr>
              <a:t>所有題目與多輪對話的數學內容由人撰寫並對照參考解驗證，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5B6472"/>
                </a:solidFill>
                <a:latin typeface="Microsoft JhengHei"/>
              </a:rPr>
              <a:t>不使用 4B 模型生成訓練內容（避免把模型自身的錯誤餵回去）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912364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A9D8F"/>
                </a:solidFill>
                <a:latin typeface="Microsoft JhengHe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871216"/>
            <a:ext cx="4937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23272E"/>
                </a:solidFill>
                <a:latin typeface="Microsoft JhengHei"/>
              </a:rPr>
              <a:t>中英平行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3259836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8DDE4"/>
                </a:solidFill>
                <a:latin typeface="Microsoft JhengHei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3584" y="3218688"/>
            <a:ext cx="46268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5B6472"/>
                </a:solidFill>
                <a:latin typeface="Microsoft JhengHei"/>
              </a:rPr>
              <a:t>50 道題 ＋ 中英平行對話，達成「語言跟隨學生」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607308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A9D8F"/>
                </a:solidFill>
                <a:latin typeface="Microsoft JhengHe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566160"/>
            <a:ext cx="4937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23272E"/>
                </a:solidFill>
                <a:latin typeface="Microsoft JhengHei"/>
              </a:rPr>
              <a:t>grounding 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954780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8DDE4"/>
                </a:solidFill>
                <a:latin typeface="Microsoft JhengHei"/>
              </a:rPr>
              <a:t>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3584" y="3913632"/>
            <a:ext cx="46268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5B6472"/>
                </a:solidFill>
                <a:latin typeface="Microsoft JhengHei"/>
              </a:rPr>
              <a:t>每題 system prompt 內嵌該題參考解，實證為跨域抗幻覺的關鍵——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5B6472"/>
                </a:solidFill>
                <a:latin typeface="Microsoft JhengHei"/>
              </a:rPr>
              <a:t>移除即出現數學錯誤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1481328"/>
            <a:ext cx="5120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2A41"/>
                </a:solidFill>
                <a:latin typeface="Microsoft JhengHei"/>
              </a:rPr>
              <a:t>訓練設定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19088" y="1865376"/>
            <a:ext cx="5120640" cy="36576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419088" y="2220976"/>
            <a:ext cx="5120640" cy="1016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47104" y="1865376"/>
            <a:ext cx="142956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項目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6123" y="1865376"/>
            <a:ext cx="325216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19088" y="2231136"/>
            <a:ext cx="512064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419088" y="2586736"/>
            <a:ext cx="5120640" cy="10160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47104" y="2231136"/>
            <a:ext cx="142956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基底模型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6123" y="2231136"/>
            <a:ext cx="325216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Qwen3-4B-Instruct-2507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19088" y="2596896"/>
            <a:ext cx="512064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419088" y="2952496"/>
            <a:ext cx="5120640" cy="10160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547104" y="2596896"/>
            <a:ext cx="142956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微調法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96123" y="2596896"/>
            <a:ext cx="325216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QLoRA（4-bit nf4 ＋ LoRA）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19088" y="2962656"/>
            <a:ext cx="512064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6419088" y="3318256"/>
            <a:ext cx="5120640" cy="10160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547104" y="2962656"/>
            <a:ext cx="142956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現役 adapter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6123" y="2962656"/>
            <a:ext cx="325216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qlora_adapter_v9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19088" y="3328416"/>
            <a:ext cx="512064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6419088" y="3684016"/>
            <a:ext cx="5120640" cy="10160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547104" y="3328416"/>
            <a:ext cx="142956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訓練規模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96123" y="3328416"/>
            <a:ext cx="325216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814 例（733 / 81）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19088" y="3694176"/>
            <a:ext cx="512064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6419088" y="4049776"/>
            <a:ext cx="5120640" cy="10160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547104" y="3694176"/>
            <a:ext cx="142956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MAX_LEN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96123" y="3694176"/>
            <a:ext cx="325216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1024（640 會截掉 26% 樣本的尾端）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19088" y="4059936"/>
            <a:ext cx="512064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6419088" y="4415536"/>
            <a:ext cx="5120640" cy="10160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547104" y="4059936"/>
            <a:ext cx="142956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eval_loss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96123" y="4059936"/>
            <a:ext cx="325216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1.052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19088" y="4425696"/>
            <a:ext cx="512064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6419088" y="4781296"/>
            <a:ext cx="5120640" cy="10160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547104" y="4425696"/>
            <a:ext cx="142956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訓練時間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96123" y="4425696"/>
            <a:ext cx="325216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12.5 分鐘（實驗室 4090，bf16）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" y="5806440"/>
            <a:ext cx="38100" cy="566928"/>
          </a:xfrm>
          <a:prstGeom prst="rect">
            <a:avLst/>
          </a:prstGeom>
          <a:solidFill>
            <a:srgbClr val="D8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41248" y="580644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472"/>
                </a:solidFill>
                <a:latin typeface="Microsoft JhengHei"/>
              </a:rPr>
              <a:t>MAX_LEN 640 → 1024 是量測驅動的決策：截掉的正好是對話收尾與審閱輪，也就是弱點「完成後仍多講」的訓練面根因。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A9D8F"/>
                </a:solidFill>
                <a:latin typeface="Microsoft JhengHei"/>
              </a:rPr>
              <a:t>8 題訓練集外 × 3 對抗情境，同尺 LLM-as-judge 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B2A41"/>
                </a:solidFill>
                <a:latin typeface="Microsoft JhengHei"/>
              </a:rPr>
              <a:t>結果 ①　三路線正面對決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71600"/>
            <a:ext cx="1051560" cy="406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710367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472"/>
                </a:solidFill>
                <a:latin typeface="Microsoft JhengHe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737360"/>
            <a:ext cx="10881360" cy="420624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58368" y="2147824"/>
            <a:ext cx="10881360" cy="1016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1737360"/>
            <a:ext cx="458647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路線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92318" y="1737360"/>
            <a:ext cx="1276731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S1 首問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8505" y="1737360"/>
            <a:ext cx="1276731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S2 糾錯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84692" y="1737360"/>
            <a:ext cx="1276731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S3 逼問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0879" y="1737360"/>
            <a:ext cx="136740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總平均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157984"/>
            <a:ext cx="10881360" cy="438912"/>
          </a:xfrm>
          <a:prstGeom prst="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58368" y="2586736"/>
            <a:ext cx="10881360" cy="10160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86384" y="2157984"/>
            <a:ext cx="458647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A41"/>
                </a:solidFill>
                <a:latin typeface="Microsoft JhengHei"/>
              </a:rPr>
              <a:t>本專題部署形態（微調＋driver＋後盾）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92318" y="2157984"/>
            <a:ext cx="1276731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23272E"/>
                </a:solidFill>
                <a:latin typeface="Microsoft JhengHei"/>
              </a:rPr>
              <a:t>4.31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8505" y="2157984"/>
            <a:ext cx="1276731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23272E"/>
                </a:solidFill>
                <a:latin typeface="Microsoft JhengHei"/>
              </a:rPr>
              <a:t>4.50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84692" y="2157984"/>
            <a:ext cx="1276731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23272E"/>
                </a:solidFill>
                <a:latin typeface="Microsoft JhengHei"/>
              </a:rPr>
              <a:t>4.31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80879" y="2157984"/>
            <a:ext cx="1367409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23272E"/>
                </a:solidFill>
                <a:latin typeface="Microsoft JhengHei"/>
              </a:rPr>
              <a:t>4.37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596896"/>
            <a:ext cx="10881360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58368" y="3025648"/>
            <a:ext cx="10881360" cy="10160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86384" y="2596896"/>
            <a:ext cx="458647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3272E"/>
                </a:solidFill>
                <a:latin typeface="Microsoft JhengHei"/>
              </a:rPr>
              <a:t>後盾離線時的降級形態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92318" y="2596896"/>
            <a:ext cx="1276731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23272E"/>
                </a:solidFill>
                <a:latin typeface="Microsoft JhengHei"/>
              </a:rPr>
              <a:t>4.31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8505" y="2596896"/>
            <a:ext cx="1276731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23272E"/>
                </a:solidFill>
                <a:latin typeface="Microsoft JhengHei"/>
              </a:rPr>
              <a:t>4.19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84692" y="2596896"/>
            <a:ext cx="1276731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23272E"/>
                </a:solidFill>
                <a:latin typeface="Microsoft JhengHei"/>
              </a:rPr>
              <a:t>4.31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80879" y="2596896"/>
            <a:ext cx="1367409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23272E"/>
                </a:solidFill>
                <a:latin typeface="Microsoft JhengHei"/>
              </a:rPr>
              <a:t>4.27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035808"/>
            <a:ext cx="10881360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58368" y="3464560"/>
            <a:ext cx="10881360" cy="10160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86384" y="3035808"/>
            <a:ext cx="458647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3272E"/>
                </a:solidFill>
                <a:latin typeface="Microsoft JhengHei"/>
              </a:rPr>
              <a:t>裸微調模型（無 driver）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92318" y="3035808"/>
            <a:ext cx="1276731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23272E"/>
                </a:solidFill>
                <a:latin typeface="Microsoft JhengHei"/>
              </a:rPr>
              <a:t>4.38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8505" y="3035808"/>
            <a:ext cx="1276731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23272E"/>
                </a:solidFill>
                <a:latin typeface="Microsoft JhengHei"/>
              </a:rPr>
              <a:t>4.31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84692" y="3035808"/>
            <a:ext cx="1276731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23272E"/>
                </a:solidFill>
                <a:latin typeface="Microsoft JhengHei"/>
              </a:rPr>
              <a:t>4.38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80879" y="3035808"/>
            <a:ext cx="1367409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23272E"/>
                </a:solidFill>
                <a:latin typeface="Microsoft JhengHei"/>
              </a:rPr>
              <a:t>4.35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3474720"/>
            <a:ext cx="10881360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58368" y="3903472"/>
            <a:ext cx="10881360" cy="10160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86384" y="3474720"/>
            <a:ext cx="458647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3272E"/>
                </a:solidFill>
                <a:latin typeface="Microsoft JhengHei"/>
              </a:rPr>
              <a:t>Ollama 思考型 ＋ grounded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92318" y="3474720"/>
            <a:ext cx="1276731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23272E"/>
                </a:solidFill>
                <a:latin typeface="Microsoft JhengHei"/>
              </a:rPr>
              <a:t>3.63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8505" y="3474720"/>
            <a:ext cx="1276731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23272E"/>
                </a:solidFill>
                <a:latin typeface="Microsoft JhengHei"/>
              </a:rPr>
              <a:t>4.75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84692" y="3474720"/>
            <a:ext cx="1276731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23272E"/>
                </a:solidFill>
                <a:latin typeface="Microsoft JhengHei"/>
              </a:rPr>
              <a:t>3.63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80879" y="3474720"/>
            <a:ext cx="1367409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23272E"/>
                </a:solidFill>
                <a:latin typeface="Microsoft JhengHei"/>
              </a:rPr>
              <a:t>4.00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3913632"/>
            <a:ext cx="10881360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658368" y="4342384"/>
            <a:ext cx="10881360" cy="10160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86384" y="3913632"/>
            <a:ext cx="458647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3272E"/>
                </a:solidFill>
                <a:latin typeface="Microsoft JhengHei"/>
              </a:rPr>
              <a:t>base 模型 ＋ grounded（未微調）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92318" y="3913632"/>
            <a:ext cx="1276731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23272E"/>
                </a:solidFill>
                <a:latin typeface="Microsoft JhengHei"/>
              </a:rPr>
              <a:t>3.88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8505" y="3913632"/>
            <a:ext cx="1276731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23272E"/>
                </a:solidFill>
                <a:latin typeface="Microsoft JhengHei"/>
              </a:rPr>
              <a:t>4.06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84692" y="3913632"/>
            <a:ext cx="1276731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23272E"/>
                </a:solidFill>
                <a:latin typeface="Microsoft JhengHei"/>
              </a:rPr>
              <a:t>3.00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80879" y="3913632"/>
            <a:ext cx="1367409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23272E"/>
                </a:solidFill>
                <a:latin typeface="Microsoft JhengHei"/>
              </a:rPr>
              <a:t>3.65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4480560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B2A41"/>
                </a:solidFill>
                <a:latin typeface="Microsoft JhengHei"/>
              </a:rPr>
              <a:t>三個值得注意的地方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4" y="4905756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D8DDE4"/>
                </a:solidFill>
                <a:latin typeface="Microsoft JhengHei"/>
              </a:rPr>
              <a:t>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43584" y="4864608"/>
            <a:ext cx="102961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5B6472"/>
                </a:solidFill>
                <a:latin typeface="Microsoft JhengHei"/>
              </a:rPr>
              <a:t>思考型模型的 S2 最高（4.75）卻總平均最低（4.00）——S3 曾把完整證明整段交出。</a:t>
            </a:r>
          </a:p>
          <a:p>
            <a:pPr algn="l">
              <a:lnSpc>
                <a:spcPct val="118000"/>
              </a:lnSpc>
            </a:pPr>
            <a:r>
              <a:rPr sz="1200" b="0">
                <a:solidFill>
                  <a:srgbClr val="5B6472"/>
                </a:solidFill>
                <a:latin typeface="Microsoft JhengHei"/>
              </a:rPr>
              <a:t>混合架構讓它只在幕後找碴：優點取得、致命傷隔離。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9264" y="5564124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D8DDE4"/>
                </a:solidFill>
                <a:latin typeface="Microsoft JhengHei"/>
              </a:rPr>
              <a:t>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43584" y="5522976"/>
            <a:ext cx="102961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5B6472"/>
                </a:solidFill>
                <a:latin typeface="Microsoft JhengHei"/>
              </a:rPr>
              <a:t>driver 防護的直接證據：S3 由裸模型 4.06 → 4.31（洩漏重生成 24 筆中觸發 6 次、全數成功）。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9264" y="6222492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D8DDE4"/>
                </a:solidFill>
                <a:latin typeface="Microsoft JhengHei"/>
              </a:rPr>
              <a:t>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43584" y="6181344"/>
            <a:ext cx="102961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5B6472"/>
                </a:solidFill>
                <a:latin typeface="Microsoft JhengHei"/>
              </a:rPr>
              <a:t>裸模型 S1／S3 略高於部署形態——driver 的價值不在單輪分數，而在多輪行為的可控性。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A9D8F"/>
                </a:solidFill>
                <a:latin typeface="Microsoft JhengHei"/>
              </a:rPr>
              <a:t>離散數學／線性代數 6 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B2A41"/>
                </a:solidFill>
                <a:latin typeface="Microsoft JhengHei"/>
              </a:rPr>
              <a:t>結果 ②　跨領域遷移與備課可信度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71600"/>
            <a:ext cx="1051560" cy="406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710367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472"/>
                </a:solidFill>
                <a:latin typeface="Microsoft JhengHe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700784"/>
            <a:ext cx="345643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3456432" cy="50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96112" y="1883664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A9D8F"/>
                </a:solidFill>
                <a:latin typeface="Microsoft JhengHei"/>
              </a:rPr>
              <a:t>4.25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8716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A41"/>
                </a:solidFill>
                <a:latin typeface="Microsoft JhengHei"/>
              </a:rPr>
              <a:t>跨領域三情境總平均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779776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B6472"/>
                </a:solidFill>
                <a:latin typeface="Microsoft JhengHei"/>
              </a:rPr>
              <a:t>≈ 域內 4.27，引導行為無衰減遷移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0831" y="1700784"/>
            <a:ext cx="345643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70831" y="1700784"/>
            <a:ext cx="3456432" cy="508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608575" y="1883664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B2A41"/>
                </a:solidFill>
                <a:latin typeface="Microsoft JhengHei"/>
              </a:rPr>
              <a:t>4.67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5" y="248716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A41"/>
                </a:solidFill>
                <a:latin typeface="Microsoft JhengHei"/>
              </a:rPr>
              <a:t>跨域 S2 糾錯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5" y="2779776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B6472"/>
                </a:solidFill>
                <a:latin typeface="Microsoft JhengHei"/>
              </a:rPr>
              <a:t>反超域內——6 個埋錯全中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3294" y="1700784"/>
            <a:ext cx="345643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83294" y="1700784"/>
            <a:ext cx="3456432" cy="50800"/>
          </a:xfrm>
          <a:prstGeom prst="rect">
            <a:avLst/>
          </a:prstGeom>
          <a:solidFill>
            <a:srgbClr val="D8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321038" y="1883664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D88C00"/>
                </a:solidFill>
                <a:latin typeface="Microsoft JhengHei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8" y="248716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A41"/>
                </a:solidFill>
                <a:latin typeface="Microsoft JhengHei"/>
              </a:rPr>
              <a:t>18 筆生成的數學錯誤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38" y="2779776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B6472"/>
                </a:solidFill>
                <a:latin typeface="Microsoft JhengHei"/>
              </a:rPr>
              <a:t>grounded 參考解是關鍵錨，跨域不可拿掉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529584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B2A41"/>
                </a:solidFill>
                <a:latin typeface="Microsoft JhengHei"/>
              </a:rPr>
              <a:t>跨域也放大了三個域內已知弱點 → 當日在 driver 加上三項防護（皆為重生成機制）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34564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3931920"/>
            <a:ext cx="345643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2A41"/>
                </a:solidFill>
                <a:latin typeface="Microsoft JhengHei"/>
              </a:rPr>
              <a:t>on-track 防奉送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70831" y="3931920"/>
            <a:ext cx="34564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370831" y="3931920"/>
            <a:ext cx="345643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2A41"/>
                </a:solidFill>
                <a:latin typeface="Microsoft JhengHei"/>
              </a:rPr>
              <a:t>等級 2 禁算式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83294" y="3931920"/>
            <a:ext cx="34564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083294" y="3931920"/>
            <a:ext cx="345643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2A41"/>
                </a:solidFill>
                <a:latin typeface="Microsoft JhengHei"/>
              </a:rPr>
              <a:t>回問保底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535424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A9D8F"/>
                </a:solidFill>
                <a:latin typeface="Microsoft JhengHei"/>
              </a:rPr>
              <a:t>結果：跨域 4.25 → 4.44，域內無回歸。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029200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B2A41"/>
                </a:solidFill>
                <a:latin typeface="Microsoft JhengHei"/>
              </a:rPr>
              <a:t>殘留限制（誠實揭露）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" y="5454396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D8DDE4"/>
                </a:solidFill>
                <a:latin typeface="Microsoft JhengHei"/>
              </a:rPr>
              <a:t>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43584" y="5413248"/>
            <a:ext cx="102961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5B6472"/>
                </a:solidFill>
                <a:latin typeface="Microsoft JhengHei"/>
              </a:rPr>
              <a:t>審閱解釋精確度（「察覺對但解釋錯」）是唯一還會出現數學錯話的環節，driver 蓋不住，需訓練面解法。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" y="6112764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D8DDE4"/>
                </a:solidFill>
                <a:latin typeface="Microsoft JhengHei"/>
              </a:rPr>
              <a:t>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43584" y="6071616"/>
            <a:ext cx="102961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5B6472"/>
                </a:solidFill>
                <a:latin typeface="Microsoft JhengHei"/>
              </a:rPr>
              <a:t>備課的證明者與驗證員是同一個 4B 思考模型的獨立取樣，非獨立模型；新領域建議先抽查。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A9D8F"/>
                </a:solidFill>
                <a:latin typeface="Microsoft JhengHei"/>
              </a:rPr>
              <a:t>regression_suite.py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B2A41"/>
                </a:solidFill>
                <a:latin typeface="Microsoft JhengHei"/>
              </a:rPr>
              <a:t>品質守門：把「不退步」變成可執行的檢查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71600"/>
            <a:ext cx="1051560" cy="406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710367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472"/>
                </a:solidFill>
                <a:latin typeface="Microsoft JhengHe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45920"/>
            <a:ext cx="10881360" cy="420624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58368" y="2056384"/>
            <a:ext cx="10881360" cy="1016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1645920"/>
            <a:ext cx="931457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層級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7297" y="1645920"/>
            <a:ext cx="668602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內容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42775" y="1645920"/>
            <a:ext cx="134997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容忍度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12201" y="1645920"/>
            <a:ext cx="103608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需 GPU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066544"/>
            <a:ext cx="1088136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58368" y="2477008"/>
            <a:ext cx="10881360" cy="10160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86384" y="2066544"/>
            <a:ext cx="931457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Tier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37297" y="2066544"/>
            <a:ext cx="668602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資料集驗證、單元測試 313 條 / 32 組、299 場真實對話回放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42775" y="2066544"/>
            <a:ext cx="134997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零容忍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12201" y="2066544"/>
            <a:ext cx="103608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487168"/>
            <a:ext cx="1088136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58368" y="2897632"/>
            <a:ext cx="10881360" cy="10160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86384" y="2487168"/>
            <a:ext cx="931457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Tier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37297" y="2487168"/>
            <a:ext cx="668602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19 深度題單輪探針 ＋ 結構指標（洩漏／拒絕／升級／單問句／教學）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42775" y="2487168"/>
            <a:ext cx="134997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零容忍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12201" y="2487168"/>
            <a:ext cx="103608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2907792"/>
            <a:ext cx="1088136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58368" y="3318256"/>
            <a:ext cx="10881360" cy="10160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86384" y="2907792"/>
            <a:ext cx="931457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Tier 1b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37297" y="2907792"/>
            <a:ext cx="668602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多輪確定性探針（階段流、提示梯守恆、收尾、糾錯不中斷）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42775" y="2907792"/>
            <a:ext cx="134997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零容忍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12201" y="2907792"/>
            <a:ext cx="103608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3328416"/>
            <a:ext cx="1088136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58368" y="3738880"/>
            <a:ext cx="10881360" cy="10160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86384" y="3328416"/>
            <a:ext cx="931457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Tier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37297" y="3328416"/>
            <a:ext cx="668602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逐題 LLM 評審（數學正確／抓錯／不洩漏／品質），每則取 3 次共識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42775" y="3328416"/>
            <a:ext cx="134997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ε = 0.05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12201" y="3328416"/>
            <a:ext cx="103608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是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3749040"/>
            <a:ext cx="1088136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658368" y="4159504"/>
            <a:ext cx="10881360" cy="10160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86384" y="3749040"/>
            <a:ext cx="931457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Tier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37297" y="3749040"/>
            <a:ext cx="668602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LLM 扮 4 種 persona 的多輪對話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42775" y="3749040"/>
            <a:ext cx="134997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advisory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12201" y="3749040"/>
            <a:ext cx="103608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是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169664"/>
            <a:ext cx="1088136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658368" y="4580128"/>
            <a:ext cx="10881360" cy="10160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86384" y="4169664"/>
            <a:ext cx="931457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Tier 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37297" y="4169664"/>
            <a:ext cx="668602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審閱後盾找碴準確度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42775" y="4169664"/>
            <a:ext cx="134997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advisory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12201" y="4169664"/>
            <a:ext cx="103608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需 Ollama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4754880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B2A41"/>
                </a:solidFill>
                <a:latin typeface="Microsoft JhengHei"/>
              </a:rPr>
              <a:t>任何硬性指標低於基準 → exit 1，不可推送。基準只升不降。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4" y="5180076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D8DDE4"/>
                </a:solidFill>
                <a:latin typeface="Microsoft JhengHei"/>
              </a:rPr>
              <a:t>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43584" y="5138928"/>
            <a:ext cx="102961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2A9D8F"/>
                </a:solidFill>
                <a:latin typeface="Microsoft JhengHei"/>
              </a:rPr>
              <a:t>最近一輪：25 項硬性指標全 ≥ 基準，exit 0（2026-08-07T183953_a2ba4fd）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9264" y="5838444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D8DDE4"/>
                </a:solidFill>
                <a:latin typeface="Microsoft JhengHei"/>
              </a:rPr>
              <a:t>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43584" y="5797296"/>
            <a:ext cx="102961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5B6472"/>
                </a:solidFill>
                <a:latin typeface="Microsoft JhengHei"/>
              </a:rPr>
              <a:t>計分卡與對話存檔全部進版控——它們同時是 Tier 0 回放測試的語料，不可刪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A9D8F"/>
                </a:solidFill>
                <a:latin typeface="Microsoft JhengHei"/>
              </a:rPr>
              <a:t>方法論貢獻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B2A41"/>
                </a:solidFill>
                <a:latin typeface="Microsoft JhengHei"/>
              </a:rPr>
              <a:t>守門本身可靠嗎？——把評審雜訊量出來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71600"/>
            <a:ext cx="1051560" cy="406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710367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472"/>
                </a:solidFill>
                <a:latin typeface="Microsoft JhengHe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8813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>
                <a:solidFill>
                  <a:srgbClr val="23272E"/>
                </a:solidFill>
                <a:latin typeface="Microsoft JhengHei"/>
              </a:rPr>
              <a:t>量法：取 14 輪同後端、回覆逐字全同的守門（生成端零變化），</a:t>
            </a:r>
          </a:p>
          <a:p>
            <a:pPr algn="l">
              <a:lnSpc>
                <a:spcPct val="130000"/>
              </a:lnSpc>
            </a:pPr>
            <a:r>
              <a:rPr sz="1550" b="0">
                <a:solidFill>
                  <a:srgbClr val="23272E"/>
                </a:solidFill>
                <a:latin typeface="Microsoft JhengHei"/>
              </a:rPr>
              <a:t>差異即評審自身的不確定性。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139696"/>
            <a:ext cx="10881360" cy="786384"/>
          </a:xfrm>
          <a:prstGeom prst="rect">
            <a:avLst/>
          </a:prstGeom>
          <a:solidFill>
            <a:srgbClr val="FFFFFF"/>
          </a:solidFill>
          <a:ln w="17780">
            <a:solidFill>
              <a:srgbClr val="C14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58368" y="2139696"/>
            <a:ext cx="50800" cy="786384"/>
          </a:xfrm>
          <a:prstGeom prst="rect">
            <a:avLst/>
          </a:prstGeom>
          <a:solidFill>
            <a:srgbClr val="C14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2139696"/>
            <a:ext cx="103327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B2A41"/>
                </a:solidFill>
                <a:latin typeface="Microsoft JhengHei"/>
              </a:rPr>
              <a:t>9 個硬性 judge 指標中，有 8 個的「純評審雜訊」≥ 自己的容忍度 ε</a:t>
            </a:r>
          </a:p>
          <a:p>
            <a:pPr algn="l">
              <a:lnSpc>
                <a:spcPct val="130000"/>
              </a:lnSpc>
            </a:pPr>
            <a:r>
              <a:rPr sz="1600" b="1">
                <a:solidFill>
                  <a:srgbClr val="1B2A41"/>
                </a:solidFill>
                <a:latin typeface="Microsoft JhengHei"/>
              </a:rPr>
              <a:t>——亦即沒有任何真實退步時，也可能被判退。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218688"/>
            <a:ext cx="5212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B2A41"/>
                </a:solidFill>
                <a:latin typeface="Microsoft JhengHei"/>
              </a:rPr>
              <a:t>放寬 ε 不是解法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602736"/>
            <a:ext cx="5212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23272E"/>
                </a:solidFill>
                <a:latin typeface="Microsoft JhengHei"/>
              </a:rPr>
              <a:t>s2_catch_zh 共 14 題：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23272E"/>
                </a:solidFill>
                <a:latin typeface="Microsoft JhengHei"/>
              </a:rPr>
              <a:t>　純評審雜訊　　　　0.159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23272E"/>
                </a:solidFill>
                <a:latin typeface="Microsoft JhengHei"/>
              </a:rPr>
              <a:t>　真實「多錯 2 題」　0.143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23272E"/>
                </a:solidFill>
                <a:latin typeface="Microsoft JhengHei"/>
              </a:rPr>
              <a:t>任何蓋得住雜訊的 ε，都會同時放行真實退步。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3218688"/>
            <a:ext cx="5120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B2A41"/>
                </a:solidFill>
                <a:latin typeface="Microsoft JhengHei"/>
              </a:rPr>
              <a:t>因此改變了判準設計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9984" y="3643884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8DDE4"/>
                </a:solidFill>
                <a:latin typeface="Microsoft JhengHei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4304" y="3602736"/>
            <a:ext cx="45354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5B6472"/>
                </a:solidFill>
                <a:latin typeface="Microsoft JhengHei"/>
              </a:rPr>
              <a:t>雜訊過大的指標降為 advisory（照算照印、不進 pass/fail）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9984" y="3991356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8DDE4"/>
                </a:solidFill>
                <a:latin typeface="Microsoft JhengHei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4304" y="3950208"/>
            <a:ext cx="45354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5B6472"/>
                </a:solidFill>
                <a:latin typeface="Microsoft JhengHei"/>
              </a:rPr>
              <a:t>Tier 2 每則探針評審 3 次取共識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9984" y="4338828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8DDE4"/>
                </a:solidFill>
                <a:latin typeface="Microsoft JhengHei"/>
              </a:rPr>
              <a:t>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4297680"/>
            <a:ext cx="45354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5B6472"/>
                </a:solidFill>
                <a:latin typeface="Microsoft JhengHei"/>
              </a:rPr>
              <a:t>判退時的第一個動作：逐字比對兩輪的回覆存檔——</a:t>
            </a: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5B6472"/>
                </a:solidFill>
                <a:latin typeface="Microsoft JhengHei"/>
              </a:rPr>
              <a:t>全同即代表生成端沒變，所有波動都是雜訊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5138928"/>
            <a:ext cx="10881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58368" y="5138928"/>
            <a:ext cx="50800" cy="84124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4400" y="5138928"/>
            <a:ext cx="103327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1">
                <a:solidFill>
                  <a:srgbClr val="1B2A41"/>
                </a:solidFill>
                <a:latin typeface="Microsoft JhengHei"/>
              </a:rPr>
              <a:t>教訓：把守門從「會誤殺的儀式」修成「可辯護的判準」，比追高分數重要。</a:t>
            </a:r>
          </a:p>
          <a:p>
            <a:pPr algn="l">
              <a:lnSpc>
                <a:spcPct val="132000"/>
              </a:lnSpc>
            </a:pPr>
            <a:r>
              <a:rPr sz="1450" b="1">
                <a:solidFill>
                  <a:srgbClr val="1B2A41"/>
                </a:solidFill>
                <a:latin typeface="Microsoft JhengHei"/>
              </a:rPr>
              <a:t>只在能可靠量測的層面棘輪——任何採用／判退決策，都不可只用 judge 分數當依據。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A9D8F"/>
                </a:solidFill>
                <a:latin typeface="Microsoft JhengHei"/>
              </a:rPr>
              <a:t>判定紀錄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B2A41"/>
                </a:solidFill>
                <a:latin typeface="Microsoft JhengHei"/>
              </a:rPr>
              <a:t>負面結果也是結果：兩次重訓判退、一條路線放棄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71600"/>
            <a:ext cx="1051560" cy="406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710367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472"/>
                </a:solidFill>
                <a:latin typeface="Microsoft JhengHei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91056"/>
            <a:ext cx="1088136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58368" y="1591056"/>
            <a:ext cx="50800" cy="1316736"/>
          </a:xfrm>
          <a:prstGeom prst="rect">
            <a:avLst/>
          </a:prstGeom>
          <a:solidFill>
            <a:srgbClr val="C14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A41"/>
                </a:solidFill>
                <a:latin typeface="Microsoft JhengHei"/>
              </a:rPr>
              <a:t>v10 adapter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0088" y="1755648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B6472"/>
                </a:solidFill>
                <a:latin typeface="Microsoft JhengHei"/>
              </a:rPr>
              <a:t>資料集 814 → 830 例（新增跨題型旅程對話）重訓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22408" y="1709928"/>
            <a:ext cx="1188720" cy="329184"/>
          </a:xfrm>
          <a:prstGeom prst="roundRect">
            <a:avLst>
              <a:gd name="adj" fmla="val 30000"/>
            </a:avLst>
          </a:prstGeom>
          <a:solidFill>
            <a:srgbClr val="C14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122408" y="1709928"/>
            <a:ext cx="11887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判退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03120"/>
            <a:ext cx="1033272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23272E"/>
                </a:solidFill>
                <a:latin typeface="Microsoft JhengHei"/>
              </a:rPr>
              <a:t>跑了 2 輪完整 suite ＋ 3 次重評審。單輪指標全過，但 H5 案例在 4 次獨立生成中</a:t>
            </a:r>
          </a:p>
          <a:p>
            <a:pPr algn="l">
              <a:lnSpc>
                <a:spcPct val="128000"/>
              </a:lnSpc>
            </a:pPr>
            <a:r>
              <a:rPr sz="1200" b="0">
                <a:solidFill>
                  <a:srgbClr val="23272E"/>
                </a:solidFill>
                <a:latin typeface="Microsoft JhengHei"/>
              </a:rPr>
              <a:t>全部重現「學生完成證明後，助教未經請求主動延伸到題目範圍外」，其中一輪的</a:t>
            </a:r>
          </a:p>
          <a:p>
            <a:pPr algn="l">
              <a:lnSpc>
                <a:spcPct val="128000"/>
              </a:lnSpc>
            </a:pPr>
            <a:r>
              <a:rPr sz="1200" b="0">
                <a:solidFill>
                  <a:srgbClr val="23272E"/>
                </a:solidFill>
                <a:latin typeface="Microsoft JhengHei"/>
              </a:rPr>
              <a:t>即興延伸還產生了新的數學錯誤。判定為真實、可重現的收尾紀律退化。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35808"/>
            <a:ext cx="1088136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58368" y="3035808"/>
            <a:ext cx="50800" cy="1316736"/>
          </a:xfrm>
          <a:prstGeom prst="rect">
            <a:avLst/>
          </a:prstGeom>
          <a:solidFill>
            <a:srgbClr val="C14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318211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A41"/>
                </a:solidFill>
                <a:latin typeface="Microsoft JhengHei"/>
              </a:rPr>
              <a:t>v11 adapter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0088" y="320040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B6472"/>
                </a:solidFill>
                <a:latin typeface="Microsoft JhengHei"/>
              </a:rPr>
              <a:t>同資料集重訓，並假設 driver 的 #11 修復能兜住 v10 的問題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22408" y="3154680"/>
            <a:ext cx="1188720" cy="329184"/>
          </a:xfrm>
          <a:prstGeom prst="roundRect">
            <a:avLst>
              <a:gd name="adj" fmla="val 30000"/>
            </a:avLst>
          </a:prstGeom>
          <a:solidFill>
            <a:srgbClr val="C14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122408" y="3154680"/>
            <a:ext cx="11887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判退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547872"/>
            <a:ext cx="1033272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23272E"/>
                </a:solidFill>
                <a:latin typeface="Microsoft JhengHei"/>
              </a:rPr>
              <a:t>假設不成立：同問題重現（H5 延伸 6 輪），X4 另有模型級數學錯誤。</a:t>
            </a:r>
          </a:p>
          <a:p>
            <a:pPr algn="l">
              <a:lnSpc>
                <a:spcPct val="128000"/>
              </a:lnSpc>
            </a:pPr>
            <a:r>
              <a:rPr sz="1200" b="0">
                <a:solidFill>
                  <a:srgbClr val="23272E"/>
                </a:solidFill>
                <a:latin typeface="Microsoft JhengHei"/>
              </a:rPr>
              <a:t>同批次的 driver 修復則乾淨通過並已上線——兩件事結論相反，不可混為一談。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4480560"/>
            <a:ext cx="1088136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58368" y="4480560"/>
            <a:ext cx="50800" cy="1316736"/>
          </a:xfrm>
          <a:prstGeom prst="rect">
            <a:avLst/>
          </a:prstGeom>
          <a:solidFill>
            <a:srgbClr val="C14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4400" y="4626864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A41"/>
                </a:solidFill>
                <a:latin typeface="Microsoft JhengHei"/>
              </a:rPr>
              <a:t>BoN ＋ 驗證器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90088" y="4645152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B6472"/>
                </a:solidFill>
                <a:latin typeface="Microsoft JhengHei"/>
              </a:rPr>
              <a:t>生成器與驗證器共存，選擇性驗證含式子的回覆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22408" y="4599432"/>
            <a:ext cx="1188720" cy="329184"/>
          </a:xfrm>
          <a:prstGeom prst="roundRect">
            <a:avLst>
              <a:gd name="adj" fmla="val 30000"/>
            </a:avLst>
          </a:prstGeom>
          <a:solidFill>
            <a:srgbClr val="C14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122408" y="4599432"/>
            <a:ext cx="11887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不採用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992624"/>
            <a:ext cx="1033272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23272E"/>
                </a:solidFill>
                <a:latin typeface="Microsoft JhengHei"/>
              </a:rPr>
              <a:t>校準後抓錯 3/4、誤殺 0/3，但實戰 273 輪僅 1 輪真的抓錯重生成（0.4%）。</a:t>
            </a:r>
          </a:p>
          <a:p>
            <a:pPr algn="l">
              <a:lnSpc>
                <a:spcPct val="128000"/>
              </a:lnSpc>
            </a:pPr>
            <a:r>
              <a:rPr sz="1200" b="0">
                <a:solidFill>
                  <a:srgbClr val="23272E"/>
                </a:solidFill>
                <a:latin typeface="Microsoft JhengHei"/>
              </a:rPr>
              <a:t>微調＋driver＋後盾已把可驗證的數學錯誤壓到極低，邊際效益無法量測，</a:t>
            </a:r>
          </a:p>
          <a:p>
            <a:pPr algn="l">
              <a:lnSpc>
                <a:spcPct val="128000"/>
              </a:lnSpc>
            </a:pPr>
            <a:r>
              <a:rPr sz="1200" b="0">
                <a:solidFill>
                  <a:srgbClr val="23272E"/>
                </a:solidFill>
                <a:latin typeface="Microsoft JhengHei"/>
              </a:rPr>
              <a:t>卻要多 8GB 顯存與延遲。程式碼保留，未來換非同源強驗證器可重啟。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961888"/>
            <a:ext cx="38100" cy="566928"/>
          </a:xfrm>
          <a:prstGeom prst="rect">
            <a:avLst/>
          </a:prstGeom>
          <a:solidFill>
            <a:srgbClr val="D8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41248" y="5961888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472"/>
                </a:solidFill>
                <a:latin typeface="Microsoft JhengHei"/>
              </a:rPr>
              <a:t>現行部署維持 v9——版號越新不代表越該用。這三筆判定都寫進了版控與文件，避免下一輪重走已證偽的路。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A9D8F"/>
                </a:solidFill>
                <a:latin typeface="Microsoft JhengHei"/>
              </a:rPr>
              <a:t>app.py（Gradio 本機單人 Demo）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B2A41"/>
                </a:solidFill>
                <a:latin typeface="Microsoft JhengHei"/>
              </a:rPr>
              <a:t>商品化：使用者自帶題目的完整流程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71600"/>
            <a:ext cx="1051560" cy="406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710367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472"/>
                </a:solidFill>
                <a:latin typeface="Microsoft JhengHei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700784"/>
            <a:ext cx="10881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859536" y="1883664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9536" y="1883664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82880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A41"/>
                </a:solidFill>
                <a:latin typeface="Microsoft JhengHei"/>
              </a:rPr>
              <a:t>貼上題目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5888" y="1828800"/>
            <a:ext cx="7589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可附半成品或錯誤的證明嘗試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651760"/>
            <a:ext cx="10881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59536" y="283464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59536" y="283464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779776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A41"/>
                </a:solidFill>
                <a:latin typeface="Microsoft JhengHei"/>
              </a:rPr>
              <a:t>自動備課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8" y="2779776"/>
            <a:ext cx="7589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逐階段串流顯示 PROVER → VERIFIER → REPAIR → SEGMENTER → LADDER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602736"/>
            <a:ext cx="10881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59536" y="3785616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59536" y="378561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373075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A41"/>
                </a:solidFill>
                <a:latin typeface="Microsoft JhengHei"/>
              </a:rPr>
              <a:t>分流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3730752"/>
            <a:ext cx="7589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verified → grounded 教學（全部防護生效）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unverified → 同學模式（誠實聲明沒把握）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553712"/>
            <a:ext cx="10881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859536" y="4736592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59536" y="4736592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468172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A41"/>
                </a:solidFill>
                <a:latin typeface="Microsoft JhengHei"/>
              </a:rPr>
              <a:t>逐輪引導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75888" y="4681728"/>
            <a:ext cx="7589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提示分級 → 逐步教學 → 交稿 → 審閱後盾複核 → 收尾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577840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5B6472"/>
                </a:solidFill>
                <a:latin typeface="Microsoft JhengHei"/>
              </a:rPr>
              <a:t>健壯性設計：備課走背景執行緒＋佇列（worker try/finally 保證送出結束哨兵，例外不會讓 UI 永久卡死）；進行中同時停用送出鈕與輸入框，防止 Enter 重送把單 GPU 佇列塞爆。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A9D8F"/>
                </a:solidFill>
                <a:latin typeface="Microsoft JhengHei"/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B2A41"/>
                </a:solidFill>
                <a:latin typeface="Microsoft JhengHei"/>
              </a:rPr>
              <a:t>最值得帶走的四個工程教訓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71600"/>
            <a:ext cx="1051560" cy="406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710367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472"/>
                </a:solidFill>
                <a:latin typeface="Microsoft JhengHei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881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50800" cy="10972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1773936"/>
            <a:ext cx="10241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A9D8F"/>
                </a:solidFill>
                <a:latin typeface="Microsoft JhengHei"/>
              </a:rPr>
              <a:t>看起來全綠 ≠ 測到東西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39696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回放測試的第 4 條不變式初版永遠不可能觸發（它用的判斷函式本身就排除帶問句的回覆）。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每條不變式都必須實際還原一次 bug、確認它會響。同型錯誤在後續兩次改動中又各出現一次。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834640"/>
            <a:ext cx="10881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58368" y="2834640"/>
            <a:ext cx="50800" cy="109728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2980944"/>
            <a:ext cx="10241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2A41"/>
                </a:solidFill>
                <a:latin typeface="Microsoft JhengHei"/>
              </a:rPr>
              <a:t>硬性指標全綠 ≠ 教得好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46704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某輪守門 25 項全綠、多項上升，但人工讀對話才發現教學輪在逐字重講、答案鍵挑錯、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助教推託「你自己去查」。因此把「讀對話」做成低成本可重複的動作（render_transcripts.py）。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041648"/>
            <a:ext cx="10881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58368" y="4041648"/>
            <a:ext cx="50800" cy="1097280"/>
          </a:xfrm>
          <a:prstGeom prst="rect">
            <a:avLst/>
          </a:prstGeom>
          <a:solidFill>
            <a:srgbClr val="D8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4187952"/>
            <a:ext cx="10241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D88C00"/>
                </a:solidFill>
                <a:latin typeface="Microsoft JhengHei"/>
              </a:rPr>
              <a:t>分數上升不能當成修復有效的證據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53712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近數輪守門的固定探針回覆都是 104/104 逐字相同——生成端零變化，所有分數波動都是評審雜訊。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真正可歸因的證據要從行為存檔裡找（例：walkthrough 相鄰逐字重複 1 → 0）。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5248656"/>
            <a:ext cx="10881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58368" y="5248656"/>
            <a:ext cx="50800" cy="1097280"/>
          </a:xfrm>
          <a:prstGeom prst="rect">
            <a:avLst/>
          </a:prstGeom>
          <a:solidFill>
            <a:srgbClr val="C14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4400" y="5394960"/>
            <a:ext cx="10241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C1433F"/>
                </a:solidFill>
                <a:latin typeface="Microsoft JhengHei"/>
              </a:rPr>
              <a:t>先修症狀會反覆換出口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76072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「助教退化成重複迴圈」連續兩批都在修症狀（相似度被稀釋、重生成不複驗），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23272E"/>
                </a:solidFill>
                <a:latin typeface="Microsoft JhengHei"/>
              </a:rPr>
              <a:t>失敗模式只是換出口；第三批回放逐輪狀態才看到根因是支援等級在 2↔1 震盪。診斷只花了一次回放。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A9D8F"/>
                </a:solidFill>
                <a:latin typeface="Microsoft JhengHei"/>
              </a:rPr>
              <a:t>誠實揭露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B2A41"/>
                </a:solidFill>
                <a:latin typeface="Microsoft JhengHei"/>
              </a:rPr>
              <a:t>已知弱點與下一步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71600"/>
            <a:ext cx="1051560" cy="406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710367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472"/>
                </a:solidFill>
                <a:latin typeface="Microsoft JhengHei"/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45920"/>
            <a:ext cx="10881360" cy="402336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58368" y="2038096"/>
            <a:ext cx="10881360" cy="1016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1645920"/>
            <a:ext cx="270662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弱點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12464" y="1645920"/>
            <a:ext cx="572414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現況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6064" y="1645920"/>
            <a:ext cx="179222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方向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048256"/>
            <a:ext cx="1088136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58368" y="2696464"/>
            <a:ext cx="10881360" cy="10160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86384" y="2048256"/>
            <a:ext cx="270662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3272E"/>
                </a:solidFill>
                <a:latin typeface="Microsoft JhengHei"/>
              </a:rPr>
              <a:t>英文多輪對話會洩漏參考解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2048256"/>
            <a:ext cx="572414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3272E"/>
                </a:solidFill>
                <a:latin typeface="Microsoft JhengHei"/>
              </a:rPr>
              <a:t>補上多輪探針後首次量測即見底：4 題中 3 題。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23272E"/>
                </a:solidFill>
                <a:latin typeface="Microsoft JhengHei"/>
              </a:rPr>
              <a:t>單輪抗洩漏長期滿分——「單輪不洩漏」推不出「多輪不洩漏」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6064" y="2048256"/>
            <a:ext cx="179222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3272E"/>
                </a:solidFill>
                <a:latin typeface="Microsoft JhengHei"/>
              </a:rPr>
              <a:t>最高優先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706624"/>
            <a:ext cx="1088136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58368" y="3354832"/>
            <a:ext cx="10881360" cy="10160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86384" y="2706624"/>
            <a:ext cx="270662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3272E"/>
                </a:solidFill>
                <a:latin typeface="Microsoft JhengHei"/>
              </a:rPr>
              <a:t>提示梯用盡時推託「你自己去查」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12464" y="2706624"/>
            <a:ext cx="572414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3272E"/>
                </a:solidFill>
                <a:latin typeface="Microsoft JhengHei"/>
              </a:rPr>
              <a:t>讀對話抓到；守衛只作用於逐步教學的重講輪，蓋不到前一輪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4" y="2706624"/>
            <a:ext cx="179222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3272E"/>
                </a:solidFill>
                <a:latin typeface="Microsoft JhengHei"/>
              </a:rPr>
              <a:t>擴大守衛作用域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364992"/>
            <a:ext cx="1088136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58368" y="4013200"/>
            <a:ext cx="10881360" cy="10160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86384" y="3364992"/>
            <a:ext cx="270662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3272E"/>
                </a:solidFill>
                <a:latin typeface="Microsoft JhengHei"/>
              </a:rPr>
              <a:t>對話中途的錯誤步驟沒有檢查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12464" y="3364992"/>
            <a:ext cx="572414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3272E"/>
                </a:solidFill>
                <a:latin typeface="Microsoft JhengHei"/>
              </a:rPr>
              <a:t>後盾只在審閱／糾錯輪觸發，推導途中寫錯一步時模型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23272E"/>
                </a:solidFill>
                <a:latin typeface="Microsoft JhengHei"/>
              </a:rPr>
              <a:t>手上沒有任何「這步錯了」的訊號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56064" y="3364992"/>
            <a:ext cx="179222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3272E"/>
                </a:solidFill>
                <a:latin typeface="Microsoft JhengHei"/>
              </a:rPr>
              <a:t>學生訊息含算式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23272E"/>
                </a:solidFill>
                <a:latin typeface="Microsoft JhengHei"/>
              </a:rPr>
              <a:t>即呼叫後盾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023360"/>
            <a:ext cx="1088136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58368" y="4671568"/>
            <a:ext cx="10881360" cy="10160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86384" y="4023360"/>
            <a:ext cx="270662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3272E"/>
                </a:solidFill>
                <a:latin typeface="Microsoft JhengHei"/>
              </a:rPr>
              <a:t>助教自己的數學錯誤沒有攔截點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12464" y="4023360"/>
            <a:ext cx="572414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3272E"/>
                </a:solidFill>
                <a:latin typeface="Microsoft JhengHei"/>
              </a:rPr>
              <a:t>六道防護沒有一道檢查內容正確性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56064" y="4023360"/>
            <a:ext cx="179222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3272E"/>
                </a:solidFill>
                <a:latin typeface="Microsoft JhengHei"/>
              </a:rPr>
              <a:t>換非同源強驗證器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81728"/>
            <a:ext cx="1088136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58368" y="5329936"/>
            <a:ext cx="10881360" cy="10160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86384" y="4681728"/>
            <a:ext cx="270662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3272E"/>
                </a:solidFill>
                <a:latin typeface="Microsoft JhengHei"/>
              </a:rPr>
              <a:t>自動生成內容只有安全性保證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12464" y="4681728"/>
            <a:ext cx="572414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3272E"/>
                </a:solidFill>
                <a:latin typeface="Microsoft JhengHei"/>
              </a:rPr>
              <a:t>提示梯與答案鍵只經確定性驗收，擋不掉「講得爛但無害」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56064" y="4681728"/>
            <a:ext cx="179222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3272E"/>
                </a:solidFill>
                <a:latin typeface="Microsoft JhengHei"/>
              </a:rPr>
              <a:t>人工抽查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5358384"/>
            <a:ext cx="38100" cy="566928"/>
          </a:xfrm>
          <a:prstGeom prst="rect">
            <a:avLst/>
          </a:prstGeom>
          <a:solidFill>
            <a:srgbClr val="D8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41248" y="5358384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472"/>
                </a:solidFill>
                <a:latin typeface="Microsoft JhengHei"/>
              </a:rPr>
              <a:t>所有弱點都附有可重現的實測輸入與修法方向，寫在版控的 CLAUDE.md 裡——讓「已知的坑」成為資產，而不是每次重新踩一遍。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A9D8F"/>
                </a:solidFill>
                <a:latin typeface="Microsoft JhengHei"/>
              </a:rPr>
              <a:t>結論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207008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小模型的能力邊界，可以用架構補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2478024"/>
            <a:ext cx="38100" cy="47548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80160" y="2395728"/>
            <a:ext cx="39319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FFFFFF"/>
                </a:solidFill>
                <a:latin typeface="Microsoft JhengHei"/>
              </a:rPr>
              <a:t>行為保證不來自模型有多聰明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2423160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B8C4D4"/>
                </a:solidFill>
                <a:latin typeface="Microsoft JhengHei"/>
              </a:rPr>
              <a:t>而來自確定性程式與預寫內容——模型是可替換的元件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3264408"/>
            <a:ext cx="38100" cy="47548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280160" y="3182112"/>
            <a:ext cx="39319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FFFFFF"/>
                </a:solidFill>
                <a:latin typeface="Microsoft JhengHei"/>
              </a:rPr>
              <a:t>能力邊界之外就交出去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3209544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B8C4D4"/>
                </a:solidFill>
                <a:latin typeface="Microsoft JhengHei"/>
              </a:rPr>
              <a:t>即時數學判斷交給思考型模型在幕後找碴，致命傷被隔離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4050792"/>
            <a:ext cx="38100" cy="47548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280160" y="3968496"/>
            <a:ext cx="39319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FFFFFF"/>
                </a:solidFill>
                <a:latin typeface="Microsoft JhengHei"/>
              </a:rPr>
              <a:t>不會就誠實說不會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3995928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B8C4D4"/>
                </a:solidFill>
                <a:latin typeface="Microsoft JhengHei"/>
              </a:rPr>
              <a:t>備課驗不過即降級同學模式，盲測 verified 正確率 9/9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4837176"/>
            <a:ext cx="38100" cy="47548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80160" y="4754880"/>
            <a:ext cx="39319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FFFFFF"/>
                </a:solidFill>
                <a:latin typeface="Microsoft JhengHei"/>
              </a:rPr>
              <a:t>守門要可辯護，不要好看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4782312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B8C4D4"/>
                </a:solidFill>
                <a:latin typeface="Microsoft JhengHei"/>
              </a:rPr>
              <a:t>量化評審雜訊、把不可靠的指標降為 advisory、只在可靠層面棘輪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5742432"/>
            <a:ext cx="9692640" cy="12700"/>
          </a:xfrm>
          <a:prstGeom prst="rect">
            <a:avLst/>
          </a:prstGeom>
          <a:solidFill>
            <a:srgbClr val="334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51560" y="59618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E9BAE"/>
                </a:solidFill>
                <a:latin typeface="Microsoft JhengHei"/>
              </a:rPr>
              <a:t>部署形態總平均 4.37/5　│　跨領域 4.44　│　備課盲測正確率 9/9　│　守門 25 項硬性指標 exit 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